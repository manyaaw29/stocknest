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25C30D-FE81-4568-8DE8-887C827A7078}" v="7" dt="2026-06-16T19:02:55.0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222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16FAF-19FE-B047-4E50-16B47C9AC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2C9D9-E258-8CF5-9504-35CE0CB7F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F9321-BB4C-DDCF-7190-60A350E93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D7A7E-5DAB-EB09-3CC3-6C38B2628F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49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6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StockNest Database Architecture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ECC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ER Diagram, Relationships &amp; Schema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6F6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StockNest is a facility management system that solves three core problems: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Chaos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9659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items scattered across offices with no tracking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19" y="2560320"/>
            <a:ext cx="166348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Bleeding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880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Supplies run out unexpectedly, lost productivity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3474720"/>
            <a:ext cx="2202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Bottlenecks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37947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equipment takes days to repair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B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Centralized data model tracking everything with automated alerts &amp; workflow.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6F6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Entity Relationship Diagram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StockNest has 7 core entities connected through 11 relationships:</a:t>
            </a:r>
            <a:endParaRPr lang="en-US" sz="13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36034F0-C150-86D5-2EDE-84B7D99A9A10}"/>
              </a:ext>
            </a:extLst>
          </p:cNvPr>
          <p:cNvGrpSpPr/>
          <p:nvPr/>
        </p:nvGrpSpPr>
        <p:grpSpPr>
          <a:xfrm>
            <a:off x="1234440" y="1769030"/>
            <a:ext cx="6675120" cy="471249"/>
            <a:chOff x="457200" y="1633445"/>
            <a:chExt cx="6675120" cy="471249"/>
          </a:xfrm>
        </p:grpSpPr>
        <p:sp>
          <p:nvSpPr>
            <p:cNvPr id="5" name="Shape 3"/>
            <p:cNvSpPr/>
            <p:nvPr/>
          </p:nvSpPr>
          <p:spPr>
            <a:xfrm>
              <a:off x="3200400" y="1645920"/>
              <a:ext cx="1188720" cy="457200"/>
            </a:xfrm>
            <a:prstGeom prst="rect">
              <a:avLst/>
            </a:prstGeom>
            <a:solidFill>
              <a:srgbClr val="14B8A6"/>
            </a:solidFill>
            <a:ln w="12700">
              <a:solidFill>
                <a:srgbClr val="155551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200400" y="1691640"/>
              <a:ext cx="118872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555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ORGANIZATION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200400" y="1901952"/>
              <a:ext cx="118872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Owner of all data</a:t>
              </a:r>
              <a:endParaRPr lang="en-US" sz="9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57200" y="1645920"/>
              <a:ext cx="1188720" cy="457200"/>
            </a:xfrm>
            <a:prstGeom prst="rect">
              <a:avLst/>
            </a:prstGeom>
            <a:solidFill>
              <a:srgbClr val="D1B5E8"/>
            </a:solidFill>
            <a:ln w="12700">
              <a:solidFill>
                <a:srgbClr val="155551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457200" y="1719072"/>
              <a:ext cx="118872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555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USER</a:t>
              </a:r>
              <a:endParaRPr lang="en-US" sz="11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57200" y="1901952"/>
              <a:ext cx="118872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Members &amp; staff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874520" y="1647494"/>
              <a:ext cx="1188720" cy="457200"/>
            </a:xfrm>
            <a:prstGeom prst="rect">
              <a:avLst/>
            </a:prstGeom>
            <a:solidFill>
              <a:srgbClr val="FCD34D"/>
            </a:solidFill>
            <a:ln w="12700">
              <a:solidFill>
                <a:srgbClr val="155551"/>
              </a:solidFill>
              <a:prstDash val="solid"/>
            </a:ln>
          </p:spPr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AE0631A-DF75-EE6C-D42A-A6B0E148BF36}"/>
                </a:ext>
              </a:extLst>
            </p:cNvPr>
            <p:cNvGrpSpPr/>
            <p:nvPr/>
          </p:nvGrpSpPr>
          <p:grpSpPr>
            <a:xfrm>
              <a:off x="1874520" y="1719072"/>
              <a:ext cx="1188720" cy="320040"/>
              <a:chOff x="1965960" y="1719072"/>
              <a:chExt cx="1188720" cy="320040"/>
            </a:xfrm>
          </p:grpSpPr>
          <p:sp>
            <p:nvSpPr>
              <p:cNvPr id="12" name="Text 10"/>
              <p:cNvSpPr/>
              <p:nvPr/>
            </p:nvSpPr>
            <p:spPr>
              <a:xfrm>
                <a:off x="1965960" y="1719072"/>
                <a:ext cx="118872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5555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ROOM</a:t>
                </a:r>
                <a:endParaRPr lang="en-US" sz="11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1965960" y="1874520"/>
                <a:ext cx="1188720" cy="16459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Meeting spaces</a:t>
                </a:r>
                <a:endParaRPr lang="en-US" sz="900" dirty="0"/>
              </a:p>
            </p:txBody>
          </p:sp>
        </p:grpSp>
        <p:sp>
          <p:nvSpPr>
            <p:cNvPr id="14" name="Shape 12"/>
            <p:cNvSpPr/>
            <p:nvPr/>
          </p:nvSpPr>
          <p:spPr>
            <a:xfrm>
              <a:off x="4617720" y="1633445"/>
              <a:ext cx="1188720" cy="457200"/>
            </a:xfrm>
            <a:prstGeom prst="rect">
              <a:avLst/>
            </a:prstGeom>
            <a:solidFill>
              <a:srgbClr val="06B6D4"/>
            </a:solidFill>
            <a:ln w="12700">
              <a:solidFill>
                <a:srgbClr val="155551"/>
              </a:solidFill>
              <a:prstDash val="solid"/>
            </a:ln>
          </p:spPr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120AF18-E731-7025-F597-ABB70135F48A}"/>
                </a:ext>
              </a:extLst>
            </p:cNvPr>
            <p:cNvGrpSpPr/>
            <p:nvPr/>
          </p:nvGrpSpPr>
          <p:grpSpPr>
            <a:xfrm>
              <a:off x="4617720" y="1688309"/>
              <a:ext cx="1188720" cy="347472"/>
              <a:chOff x="4114800" y="1719072"/>
              <a:chExt cx="1188720" cy="347472"/>
            </a:xfrm>
          </p:grpSpPr>
          <p:sp>
            <p:nvSpPr>
              <p:cNvPr id="15" name="Text 13"/>
              <p:cNvSpPr/>
              <p:nvPr/>
            </p:nvSpPr>
            <p:spPr>
              <a:xfrm>
                <a:off x="4114800" y="1719072"/>
                <a:ext cx="118872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5555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BOOKING</a:t>
                </a:r>
                <a:endParaRPr lang="en-US" sz="1100" dirty="0"/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4114800" y="1901952"/>
                <a:ext cx="1188720" cy="16459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Reservations</a:t>
                </a:r>
                <a:endParaRPr lang="en-US" sz="900" dirty="0"/>
              </a:p>
            </p:txBody>
          </p:sp>
        </p:grpSp>
        <p:sp>
          <p:nvSpPr>
            <p:cNvPr id="17" name="Shape 15"/>
            <p:cNvSpPr/>
            <p:nvPr/>
          </p:nvSpPr>
          <p:spPr>
            <a:xfrm>
              <a:off x="5943600" y="1645920"/>
              <a:ext cx="1188720" cy="457200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155551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943600" y="1719072"/>
              <a:ext cx="118872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555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ASSET</a:t>
              </a:r>
              <a:endParaRPr lang="en-US" sz="11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943600" y="1901952"/>
              <a:ext cx="118872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Equipment</a:t>
              </a:r>
              <a:endParaRPr lang="en-US" sz="900" dirty="0"/>
            </a:p>
          </p:txBody>
        </p:sp>
      </p:grpSp>
      <p:sp>
        <p:nvSpPr>
          <p:cNvPr id="20" name="Shape 18"/>
          <p:cNvSpPr/>
          <p:nvPr/>
        </p:nvSpPr>
        <p:spPr>
          <a:xfrm>
            <a:off x="7315200" y="3108960"/>
            <a:ext cx="11887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555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318211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55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336499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155448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1555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18211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55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364992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F3B944-C6ED-F18C-FA9A-0385D1692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EF4372-9081-384C-34F5-1F8CBB90C3B3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6F6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C6B24E-5092-60E3-1DD3-9264E330611F}"/>
              </a:ext>
            </a:extLst>
          </p:cNvPr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ENUM IN OUR DATABASE</a:t>
            </a:r>
            <a:endParaRPr lang="en-US" sz="3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3E165E-3E37-C9CA-8D0C-CEA9F699DE62}"/>
              </a:ext>
            </a:extLst>
          </p:cNvPr>
          <p:cNvSpPr txBox="1"/>
          <p:nvPr/>
        </p:nvSpPr>
        <p:spPr>
          <a:xfrm>
            <a:off x="381504" y="941840"/>
            <a:ext cx="50177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dirty="0"/>
              <a:t>1. User Role</a:t>
            </a:r>
            <a:br>
              <a:rPr lang="en-IN" sz="1500" dirty="0"/>
            </a:br>
            <a:r>
              <a:rPr lang="en-IN" sz="1500" dirty="0"/>
              <a:t>Allowed values: 'Member' | 'Manager' | 'Admin' | 'Technician'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FBAD37-45CB-955E-7C4C-06E2166D12FC}"/>
              </a:ext>
            </a:extLst>
          </p:cNvPr>
          <p:cNvSpPr txBox="1"/>
          <p:nvPr/>
        </p:nvSpPr>
        <p:spPr>
          <a:xfrm>
            <a:off x="381504" y="1624905"/>
            <a:ext cx="57022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dirty="0"/>
              <a:t>2. Room Status</a:t>
            </a:r>
            <a:br>
              <a:rPr lang="en-IN" sz="1500" dirty="0"/>
            </a:br>
            <a:r>
              <a:rPr lang="en-IN" sz="1500" dirty="0"/>
              <a:t>Allowed values: 'Available' | 'Booked' | 'Under Maintenance' | 'Closed'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3DC631-AD77-7AB1-0DEC-8CBD0542E19A}"/>
              </a:ext>
            </a:extLst>
          </p:cNvPr>
          <p:cNvSpPr txBox="1"/>
          <p:nvPr/>
        </p:nvSpPr>
        <p:spPr>
          <a:xfrm>
            <a:off x="381504" y="2272268"/>
            <a:ext cx="515801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dirty="0"/>
              <a:t>3. Booking Status</a:t>
            </a:r>
            <a:br>
              <a:rPr lang="en-IN" sz="1500" dirty="0"/>
            </a:br>
            <a:r>
              <a:rPr lang="en-IN" sz="1500" dirty="0"/>
              <a:t>Allowed values: 'confirmed' | 'pending' | 'cancelled' | 'no-show'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2F3EAC-5B47-0167-EA15-07F3C64DD3D4}"/>
              </a:ext>
            </a:extLst>
          </p:cNvPr>
          <p:cNvSpPr txBox="1"/>
          <p:nvPr/>
        </p:nvSpPr>
        <p:spPr>
          <a:xfrm>
            <a:off x="381504" y="2967987"/>
            <a:ext cx="59112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dirty="0"/>
              <a:t>4. Asset Status</a:t>
            </a:r>
            <a:br>
              <a:rPr lang="en-IN" sz="1500" dirty="0"/>
            </a:br>
            <a:r>
              <a:rPr lang="en-IN" sz="1500" dirty="0"/>
              <a:t>Allowed values: 'Active' | 'In-Maintenance' | 'Damaged' | 'Retired' | 'Lost'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2DE8F8-CBEF-FAA5-3851-75BDBF32A5AB}"/>
              </a:ext>
            </a:extLst>
          </p:cNvPr>
          <p:cNvSpPr txBox="1"/>
          <p:nvPr/>
        </p:nvSpPr>
        <p:spPr>
          <a:xfrm>
            <a:off x="381504" y="3648514"/>
            <a:ext cx="501534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dirty="0"/>
              <a:t>5. Maintenance Status</a:t>
            </a:r>
            <a:br>
              <a:rPr lang="en-IN" sz="1500" dirty="0"/>
            </a:br>
            <a:r>
              <a:rPr lang="en-IN" sz="1500" dirty="0"/>
              <a:t>Allowed values: 'Pending' | 'In Progress' | 'Resolved' | 'Closed'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6DCF1F-A9F7-051A-1120-F9D47A3E477A}"/>
              </a:ext>
            </a:extLst>
          </p:cNvPr>
          <p:cNvSpPr txBox="1"/>
          <p:nvPr/>
        </p:nvSpPr>
        <p:spPr>
          <a:xfrm>
            <a:off x="384710" y="4295023"/>
            <a:ext cx="573368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dirty="0"/>
              <a:t>6. Maintenance Status</a:t>
            </a:r>
            <a:br>
              <a:rPr lang="en-IN" sz="1500" dirty="0"/>
            </a:br>
            <a:r>
              <a:rPr lang="en-IN" sz="1500" dirty="0"/>
              <a:t>Allowed values: 'In Stock' | 'Low Stock' | 'Out of Stock' | 'Discontinued' </a:t>
            </a:r>
          </a:p>
        </p:txBody>
      </p:sp>
    </p:spTree>
    <p:extLst>
      <p:ext uri="{BB962C8B-B14F-4D97-AF65-F5344CB8AC3E}">
        <p14:creationId xmlns:p14="http://schemas.microsoft.com/office/powerpoint/2010/main" val="2589893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6F6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Entity Relationships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Organization (1) ──owns──► (Many) User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Organization (1) ──owns──► (Many) Room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Organization (1) ──owns──► (Many) Asset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Organization (1) ──owns──► (Many) Inventory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(1) ──makes──► (Many) Booking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(1) ──reports──► (Many) Maintenance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 (1) ──has──► (Many) Booking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 (1) ──contains──► (Many) Asset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 (1) ──related to──► (Many) Maintenance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 (1) ──needs──► (Many) Maintenance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6F6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Entity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83464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731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Name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5087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org_id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373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17373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9659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9659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subscription_tier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19659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945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subscription_tier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4231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24231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entity. Represents a co-working space organization. All other data is scoped to an organization (multi-tenancy).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6F6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Entity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834640" cy="320040"/>
          </a:xfrm>
          <a:prstGeom prst="rect">
            <a:avLst/>
          </a:prstGeom>
          <a:solidFill>
            <a:srgbClr val="D1B5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731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Name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5087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373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org_id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17373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9659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9659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19659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945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4231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24231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6517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6517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26517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permissions[]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8803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8803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88720" y="28803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last_login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3464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1089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1089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88720" y="31089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834640" y="31089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user profiles with role-based access control. Roles: Member, Manager, Admin, Technician. Each user belongs to one organization.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6F6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Entity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834640" cy="3200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731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Name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5087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room_id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373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org_id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17373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9659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9659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room_name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19659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945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4231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amenities[]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24231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6517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6517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26517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bookings[]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8803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8803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88720" y="28803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utilization_%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3464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1089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1089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88720" y="31089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834640" y="31089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meeting rooms, focus pods, breakout areas. Stores real-time utilization %, amenities (projector, AV, etc.), and booking history.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6F6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Entity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83464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731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Name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5087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373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17373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9659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9659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room_id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19659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945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booking_date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4231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start_time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24231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6517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6517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26517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end_time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8803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8803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88720" y="28803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attendees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3464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1089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1089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88720" y="31089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834640" y="31089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room reservations. When user creates a booking: checks availability, validates permissions, updates room utilization.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6F6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Entity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83464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731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Name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5087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asset_id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373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org_id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17373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9659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9659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19659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945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condition_level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4231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current_value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24231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6517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6517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26517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service_history[]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8803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8803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88720" y="28803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last_service_date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3464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1089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1089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88720" y="31089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834640" y="31089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equipment lifecycle: condition (0-100), depreciation, service history. Enables predictive maintenance: condition &lt; 50 → auto-schedule service.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6F6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Entity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8346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731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Name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5087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373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org_id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17373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9659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9659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item_name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19659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945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current_stock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4231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reorder_point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24231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6517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6517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26517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monthly_consumption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8803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8803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88720" y="28803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consumption_history[]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3464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1089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1089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88720" y="31089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834640" y="31089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consumables (coffee, paper, supplies). Daily scheduler checks: if current_stock ≤ reorder_point → create low-stock alert &amp; optional purchase order.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6F6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Entity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83464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731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Name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5087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373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asset_id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17373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9659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9659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room_id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19659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945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assigned_to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4231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24231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6517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6517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26517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6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8803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8803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88720" y="28803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3464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108960"/>
            <a:ext cx="2834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108960"/>
            <a:ext cx="731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88720" y="310896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deadline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834640" y="3108960"/>
            <a:ext cx="457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workflow: Pending → In Progress → Resolved → Closed. SLA-tracked by priority (Critical: 2hr, High: 24hr, Medium: 48hr, Low: 72hr).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6F6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Design Decisions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condition_level (0-100)?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status insufficient. 0-100 enables: condition &lt; 50 → alert for maintenance, condition &lt; 30 → critical, supports depreciation calculation.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two reorder fields?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505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reorder_point = when to ORDER (lead_time + safety). minimum_threshold = when to ALERT. Prevents both stockouts and overstocking.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separate Asset from Inventory?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3649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lifecycles. Assets: long-term, high-value, depreciate (projector $5k/5yr). Inventory: consumable, low-value, no depreciation (coffee $50/mo).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6F6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Example: Room Booking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20040" cy="320040"/>
          </a:xfrm>
          <a:prstGeom prst="ellipse">
            <a:avLst/>
          </a:prstGeom>
          <a:solidFill>
            <a:srgbClr val="1B6F6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clicks "Book Room" → selects date/time/capacity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90472"/>
            <a:ext cx="320040" cy="320040"/>
          </a:xfrm>
          <a:prstGeom prst="ellipse">
            <a:avLst/>
          </a:prstGeom>
          <a:solidFill>
            <a:srgbClr val="1B6F6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90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53619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Query ROOM table → filter by capacity ≥ requested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37944"/>
            <a:ext cx="320040" cy="320040"/>
          </a:xfrm>
          <a:prstGeom prst="ellipse">
            <a:avLst/>
          </a:prstGeom>
          <a:solidFill>
            <a:srgbClr val="1B6F6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37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88366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Check BOOKING table → any time conflicts?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185416"/>
            <a:ext cx="320040" cy="320040"/>
          </a:xfrm>
          <a:prstGeom prst="ellipse">
            <a:avLst/>
          </a:prstGeom>
          <a:solidFill>
            <a:srgbClr val="1B6F6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854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23113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Validate: user active? has permission? capacity ok?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532888"/>
            <a:ext cx="320040" cy="320040"/>
          </a:xfrm>
          <a:prstGeom prst="ellipse">
            <a:avLst/>
          </a:prstGeom>
          <a:solidFill>
            <a:srgbClr val="1B6F6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328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57860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CREATE booking record → booking_id generated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880360"/>
            <a:ext cx="320040" cy="320040"/>
          </a:xfrm>
          <a:prstGeom prst="ellipse">
            <a:avLst/>
          </a:prstGeom>
          <a:solidFill>
            <a:srgbClr val="1B6F6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29260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UPDATE ROOM → utilization_today_percent recalculated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227832"/>
            <a:ext cx="320040" cy="320040"/>
          </a:xfrm>
          <a:prstGeom prst="ellipse">
            <a:avLst/>
          </a:prstGeom>
          <a:solidFill>
            <a:srgbClr val="1B6F6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227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27355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Send confirmation email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575304"/>
            <a:ext cx="320040" cy="320040"/>
          </a:xfrm>
          <a:prstGeom prst="ellipse">
            <a:avLst/>
          </a:prstGeom>
          <a:solidFill>
            <a:srgbClr val="1B6F6C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575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362102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Return success to user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978</Words>
  <Application>Microsoft Office PowerPoint</Application>
  <PresentationFormat>On-screen Show (16:9)</PresentationFormat>
  <Paragraphs>242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StockNest - Database Architecture &amp; ER Diagram</dc:title>
  <dc:subject>PptxGenJS Presentation</dc:subject>
  <dc:creator>StockNest Development Team</dc:creator>
  <cp:lastModifiedBy>Anya Rajan</cp:lastModifiedBy>
  <cp:revision>3</cp:revision>
  <dcterms:created xsi:type="dcterms:W3CDTF">2026-06-16T18:51:35Z</dcterms:created>
  <dcterms:modified xsi:type="dcterms:W3CDTF">2026-06-16T19:04:15Z</dcterms:modified>
</cp:coreProperties>
</file>